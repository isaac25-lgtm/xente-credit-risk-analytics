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502920"/>
            <a:ext cx="111556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08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263A"/>
                </a:solidFill>
              </a:rPr>
              <a:t>Xente Loan Default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57A6E"/>
                </a:solidFill>
              </a:defRPr>
            </a:pPr>
            <a:r>
              <a:t>Prepared by OMODING ISAAC (B31331)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566928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2263A"/>
                </a:solidFill>
              </a:defRPr>
            </a:pPr>
            <a:r>
              <a:t>Business, Management and Financial Data Analytics</a:t>
            </a:r>
          </a:p>
          <a:p>
            <a:pPr>
              <a:spcAft>
                <a:spcPts val="800"/>
              </a:spcAft>
              <a:defRPr sz="2000">
                <a:solidFill>
                  <a:srgbClr val="12263A"/>
                </a:solidFill>
              </a:defRPr>
            </a:pPr>
            <a:r>
              <a:t>Leakage-aware machine learning workflow</a:t>
            </a:r>
          </a:p>
          <a:p>
            <a:pPr>
              <a:spcAft>
                <a:spcPts val="800"/>
              </a:spcAft>
              <a:defRPr sz="2000">
                <a:solidFill>
                  <a:srgbClr val="12263A"/>
                </a:solidFill>
              </a:defRPr>
            </a:pPr>
            <a:r>
              <a:t>Jupyter notebooks, premium visuals, and Streamlit deployment</a:t>
            </a:r>
          </a:p>
        </p:txBody>
      </p:sp>
      <p:pic>
        <p:nvPicPr>
          <p:cNvPr id="6" name="Picture 5" descr="model_comparison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417320"/>
            <a:ext cx="4663440" cy="25333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263A"/>
                </a:solidFill>
              </a:rPr>
              <a:t>Business Problem and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1206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2263A"/>
                </a:solidFill>
              </a:defRPr>
            </a:pPr>
            <a:r>
              <a:t>Xente extends digital credit through a mobile-first financial platform.</a:t>
            </a:r>
          </a:p>
          <a:p>
            <a:pPr>
              <a:spcAft>
                <a:spcPts val="800"/>
              </a:spcAft>
              <a:defRPr sz="2000">
                <a:solidFill>
                  <a:srgbClr val="12263A"/>
                </a:solidFill>
              </a:defRPr>
            </a:pPr>
            <a:r>
              <a:t>Loan default erodes profitability, liquidity, and long-term sustainability.</a:t>
            </a:r>
          </a:p>
          <a:p>
            <a:pPr>
              <a:spcAft>
                <a:spcPts val="800"/>
              </a:spcAft>
              <a:defRPr sz="2000">
                <a:solidFill>
                  <a:srgbClr val="12263A"/>
                </a:solidFill>
              </a:defRPr>
            </a:pPr>
            <a:r>
              <a:t>Objective: predict whether a borrower is likely to default on a loan.</a:t>
            </a:r>
          </a:p>
          <a:p>
            <a:pPr>
              <a:spcAft>
                <a:spcPts val="800"/>
              </a:spcAft>
              <a:defRPr sz="2000">
                <a:solidFill>
                  <a:srgbClr val="12263A"/>
                </a:solidFill>
              </a:defRPr>
            </a:pPr>
            <a:r>
              <a:t>Goal: support earlier and more consistent credit decisions.</a:t>
            </a:r>
          </a:p>
        </p:txBody>
      </p:sp>
      <p:pic>
        <p:nvPicPr>
          <p:cNvPr id="4" name="Picture 3" descr="targe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325880"/>
            <a:ext cx="5120640" cy="316510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263A"/>
                </a:solidFill>
              </a:rPr>
              <a:t>Dataset and Modelling Unit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1206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2263A"/>
                </a:solidFill>
              </a:defRPr>
            </a:pPr>
            <a:r>
              <a:t>TRAIN.csv used for EDA, cleaning, feature engineering, and validation.</a:t>
            </a:r>
          </a:p>
          <a:p>
            <a:pPr>
              <a:spcAft>
                <a:spcPts val="800"/>
              </a:spcAft>
              <a:defRPr sz="2000">
                <a:solidFill>
                  <a:srgbClr val="12263A"/>
                </a:solidFill>
              </a:defRPr>
            </a:pPr>
            <a:r>
              <a:t>TEST.csv reserved for final unseen scoring.</a:t>
            </a:r>
          </a:p>
          <a:p>
            <a:pPr>
              <a:spcAft>
                <a:spcPts val="800"/>
              </a:spcAft>
              <a:defRPr sz="2000">
                <a:solidFill>
                  <a:srgbClr val="12263A"/>
                </a:solidFill>
              </a:defRPr>
            </a:pPr>
            <a:r>
              <a:t>unlinked_masked_final.csv used to enrich prior customer behaviour.</a:t>
            </a:r>
          </a:p>
          <a:p>
            <a:pPr>
              <a:spcAft>
                <a:spcPts val="800"/>
              </a:spcAft>
              <a:defRPr sz="2000">
                <a:solidFill>
                  <a:srgbClr val="12263A"/>
                </a:solidFill>
              </a:defRPr>
            </a:pPr>
            <a:r>
              <a:t>A practical row-level model was used while acknowledging repeated customer and loan events.</a:t>
            </a:r>
          </a:p>
        </p:txBody>
      </p:sp>
      <p:pic>
        <p:nvPicPr>
          <p:cNvPr id="4" name="Picture 3" descr="monthly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25880"/>
            <a:ext cx="5212080" cy="1830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263A"/>
                </a:solidFill>
              </a:rPr>
              <a:t>Data Quality and Leakage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3035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2263A"/>
                </a:solidFill>
              </a:defRPr>
            </a:pPr>
            <a:r>
              <a:t>Only labelled observations were used for supervised learning.</a:t>
            </a:r>
          </a:p>
          <a:p>
            <a:pPr>
              <a:spcAft>
                <a:spcPts val="800"/>
              </a:spcAft>
              <a:defRPr sz="2000">
                <a:solidFill>
                  <a:srgbClr val="12263A"/>
                </a:solidFill>
              </a:defRPr>
            </a:pPr>
            <a:r>
              <a:t>Missingness was profiled column-by-column instead of handled blindly.</a:t>
            </a:r>
          </a:p>
          <a:p>
            <a:pPr>
              <a:spcAft>
                <a:spcPts val="800"/>
              </a:spcAft>
              <a:defRPr sz="2000">
                <a:solidFill>
                  <a:srgbClr val="12263A"/>
                </a:solidFill>
              </a:defRPr>
            </a:pPr>
            <a:r>
              <a:t>Outliers were treated with business-aware log scaling and IQR clipping.</a:t>
            </a:r>
          </a:p>
          <a:p>
            <a:pPr>
              <a:spcAft>
                <a:spcPts val="800"/>
              </a:spcAft>
              <a:defRPr sz="2000">
                <a:solidFill>
                  <a:srgbClr val="12263A"/>
                </a:solidFill>
              </a:defRPr>
            </a:pPr>
            <a:r>
              <a:t>Repayment and payback fields were excluded to prevent leakage.</a:t>
            </a:r>
          </a:p>
        </p:txBody>
      </p:sp>
      <p:pic>
        <p:nvPicPr>
          <p:cNvPr id="4" name="Picture 3" descr="missingness_top_colum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25880"/>
            <a:ext cx="5212080" cy="308926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263A"/>
                </a:solidFill>
              </a:rPr>
              <a:t>EDA Highlights</a:t>
            </a:r>
          </a:p>
        </p:txBody>
      </p:sp>
      <p:pic>
        <p:nvPicPr>
          <p:cNvPr id="3" name="Picture 2" descr="distribution_Am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5486400" cy="1982333"/>
          </a:xfrm>
          <a:prstGeom prst="rect">
            <a:avLst/>
          </a:prstGeom>
        </p:spPr>
      </p:pic>
      <p:pic>
        <p:nvPicPr>
          <p:cNvPr id="4" name="Picture 3" descr="categories_ProductCateg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80160"/>
            <a:ext cx="5303520" cy="289976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263A"/>
                </a:solidFill>
              </a:rPr>
              <a:t>Feature Engineering and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3035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2263A"/>
                </a:solidFill>
              </a:defRPr>
            </a:pPr>
            <a:r>
              <a:t>Transaction intensity: amount, value, ratios, and log-scaled variants.</a:t>
            </a:r>
          </a:p>
          <a:p>
            <a:pPr>
              <a:spcAft>
                <a:spcPts val="800"/>
              </a:spcAft>
              <a:defRPr sz="2000">
                <a:solidFill>
                  <a:srgbClr val="12263A"/>
                </a:solidFill>
              </a:defRPr>
            </a:pPr>
            <a:r>
              <a:t>Temporal context: month, day, hour, weekday, and weekend indicator.</a:t>
            </a:r>
          </a:p>
          <a:p>
            <a:pPr>
              <a:spcAft>
                <a:spcPts val="800"/>
              </a:spcAft>
              <a:defRPr sz="2000">
                <a:solidFill>
                  <a:srgbClr val="12263A"/>
                </a:solidFill>
              </a:defRPr>
            </a:pPr>
            <a:r>
              <a:t>Behavioural history: prior counts, prior spending, diversity, recency, and tenure.</a:t>
            </a:r>
          </a:p>
          <a:p>
            <a:pPr>
              <a:spcAft>
                <a:spcPts val="800"/>
              </a:spcAft>
              <a:defRPr sz="2000">
                <a:solidFill>
                  <a:srgbClr val="12263A"/>
                </a:solidFill>
              </a:defRPr>
            </a:pPr>
            <a:r>
              <a:t>Raw IDs were excluded; behaviour summaries were retained.</a:t>
            </a:r>
          </a:p>
        </p:txBody>
      </p:sp>
      <p:pic>
        <p:nvPicPr>
          <p:cNvPr id="4" name="Picture 3" descr="relationship_categorical_ProductCateg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25880"/>
            <a:ext cx="5212080" cy="28497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263A"/>
                </a:solidFill>
              </a:rPr>
              <a:t>Model Comparison</a:t>
            </a:r>
          </a:p>
        </p:txBody>
      </p:sp>
      <p:pic>
        <p:nvPicPr>
          <p:cNvPr id="3" name="Picture 2" descr="model_comparison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5577840" cy="3030033"/>
          </a:xfrm>
          <a:prstGeom prst="rect">
            <a:avLst/>
          </a:prstGeom>
        </p:spPr>
      </p:pic>
      <p:pic>
        <p:nvPicPr>
          <p:cNvPr id="4" name="Picture 3" descr="roc_curve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280160"/>
            <a:ext cx="5303520" cy="37150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263A"/>
                </a:solidFill>
              </a:rPr>
              <a:t>Best Model and Threshold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49377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2263A"/>
                </a:solidFill>
              </a:defRPr>
            </a:pPr>
            <a:r>
              <a:t>Best model: Random Forest</a:t>
            </a:r>
          </a:p>
          <a:p>
            <a:pPr>
              <a:spcAft>
                <a:spcPts val="800"/>
              </a:spcAft>
              <a:defRPr sz="2000">
                <a:solidFill>
                  <a:srgbClr val="12263A"/>
                </a:solidFill>
              </a:defRPr>
            </a:pPr>
            <a:r>
              <a:t>F1-score: 0.838</a:t>
            </a:r>
          </a:p>
          <a:p>
            <a:pPr>
              <a:spcAft>
                <a:spcPts val="800"/>
              </a:spcAft>
              <a:defRPr sz="2000">
                <a:solidFill>
                  <a:srgbClr val="12263A"/>
                </a:solidFill>
              </a:defRPr>
            </a:pPr>
            <a:r>
              <a:t>ROC-AUC: 0.972</a:t>
            </a:r>
          </a:p>
          <a:p>
            <a:pPr>
              <a:spcAft>
                <a:spcPts val="800"/>
              </a:spcAft>
              <a:defRPr sz="2000">
                <a:solidFill>
                  <a:srgbClr val="12263A"/>
                </a:solidFill>
              </a:defRPr>
            </a:pPr>
            <a:r>
              <a:t>Recommended threshold: 0.30</a:t>
            </a:r>
          </a:p>
          <a:p>
            <a:pPr>
              <a:spcAft>
                <a:spcPts val="800"/>
              </a:spcAft>
              <a:defRPr sz="2000">
                <a:solidFill>
                  <a:srgbClr val="12263A"/>
                </a:solidFill>
              </a:defRPr>
            </a:pPr>
            <a:r>
              <a:t>Threshold tuning improved the balance between precision and recall.</a:t>
            </a:r>
          </a:p>
        </p:txBody>
      </p:sp>
      <p:pic>
        <p:nvPicPr>
          <p:cNvPr id="4" name="Picture 3" descr="threshold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5486400" cy="331499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263A"/>
                </a:solidFill>
              </a:rPr>
              <a:t>Most Influential Features</a:t>
            </a:r>
          </a:p>
        </p:txBody>
      </p:sp>
      <p:pic>
        <p:nvPicPr>
          <p:cNvPr id="3" name="Picture 2" descr="best_model_feature_effe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10607040" cy="613488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263A"/>
                </a:solidFill>
              </a:rPr>
              <a:t>Business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1206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2263A"/>
                </a:solidFill>
              </a:defRPr>
            </a:pPr>
            <a:r>
              <a:t>Use the score as an early warning signal in digital credit approval.</a:t>
            </a:r>
          </a:p>
          <a:p>
            <a:pPr>
              <a:spcAft>
                <a:spcPts val="800"/>
              </a:spcAft>
              <a:defRPr sz="2000">
                <a:solidFill>
                  <a:srgbClr val="12263A"/>
                </a:solidFill>
              </a:defRPr>
            </a:pPr>
            <a:r>
              <a:t>Flag medium-risk and high-risk cases for manual review.</a:t>
            </a:r>
          </a:p>
          <a:p>
            <a:pPr>
              <a:spcAft>
                <a:spcPts val="800"/>
              </a:spcAft>
              <a:defRPr sz="2000">
                <a:solidFill>
                  <a:srgbClr val="12263A"/>
                </a:solidFill>
              </a:defRPr>
            </a:pPr>
            <a:r>
              <a:t>Combine the model with business rules around product usage and borrower history.</a:t>
            </a:r>
          </a:p>
          <a:p>
            <a:pPr>
              <a:spcAft>
                <a:spcPts val="800"/>
              </a:spcAft>
              <a:defRPr sz="2000">
                <a:solidFill>
                  <a:srgbClr val="12263A"/>
                </a:solidFill>
              </a:defRPr>
            </a:pPr>
            <a:r>
              <a:t>Monitor model drift and recalibrate periodically.</a:t>
            </a:r>
          </a:p>
        </p:txBody>
      </p:sp>
      <p:pic>
        <p:nvPicPr>
          <p:cNvPr id="4" name="Picture 3" descr="confusion_matrix_random_fo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325880"/>
            <a:ext cx="5029200" cy="430341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263A"/>
                </a:solidFill>
              </a:rPr>
              <a:t>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2120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2263A"/>
                </a:solidFill>
              </a:defRPr>
            </a:pPr>
            <a:r>
              <a:t>Streamlit app includes data overview, EDA, cleaning logic, model performance, and live scoring.</a:t>
            </a:r>
          </a:p>
          <a:p>
            <a:pPr>
              <a:spcAft>
                <a:spcPts val="800"/>
              </a:spcAft>
              <a:defRPr sz="2000">
                <a:solidFill>
                  <a:srgbClr val="12263A"/>
                </a:solidFill>
              </a:defRPr>
            </a:pPr>
            <a:r>
              <a:t>The app loads saved artifacts instead of retraining on every run.</a:t>
            </a:r>
          </a:p>
          <a:p>
            <a:pPr>
              <a:spcAft>
                <a:spcPts val="800"/>
              </a:spcAft>
              <a:defRPr sz="2000">
                <a:solidFill>
                  <a:srgbClr val="12263A"/>
                </a:solidFill>
              </a:defRPr>
            </a:pPr>
            <a:r>
              <a:t>Notebook deliverables document the full analytical workflow.</a:t>
            </a:r>
          </a:p>
        </p:txBody>
      </p:sp>
      <p:pic>
        <p:nvPicPr>
          <p:cNvPr id="4" name="Picture 3" descr="model_comparison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120640" cy="278167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